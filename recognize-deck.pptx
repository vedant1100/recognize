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422E"/>
                </a:solidFill>
                <a:latin typeface="Calibri"/>
              </a:rPr>
              <a:t>RECOGNIZE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7F5F2"/>
                </a:solidFill>
                <a:latin typeface="Calibri"/>
              </a:rPr>
              <a:t>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B8422E"/>
                </a:solidFill>
                <a:latin typeface="Calibri"/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7F5F2"/>
                </a:solidFill>
                <a:latin typeface="Calibri"/>
              </a:rPr>
              <a:t>Brain.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C7278"/>
                </a:solidFill>
                <a:latin typeface="Calibri"/>
              </a:rPr>
              <a:t>Real-time meeting intelligence that identifies every speaker, transcribes every word, and builds a knowledge graph that never forgets.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212080"/>
            <a:ext cx="3474720" cy="384048"/>
          </a:xfrm>
          <a:prstGeom prst="rect">
            <a:avLst/>
          </a:prstGeom>
          <a:solidFill>
            <a:srgbClr val="0C1120"/>
          </a:solidFill>
          <a:ln w="952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52303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  <a:latin typeface="Calibri"/>
              </a:rPr>
              <a:t>● Live diarisation  ·  GraphRAG  ·  Neo4j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422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7F5F2"/>
                </a:solidFill>
                <a:latin typeface="Calibri"/>
              </a:rPr>
              <a:t>A decades-old unsolved problem — solved.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422E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F5F2"/>
                </a:solidFill>
                <a:latin typeface="Calibri"/>
              </a:rPr>
              <a:t>Speaker diarisation requires dedicated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Classical approaches need microphone arrays, per-speaker voice enrollment, or expensive cloud APIs with no real-time output. Single-camera, single-mic setups had no clean prior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422E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F5F2"/>
                </a:solidFill>
                <a:latin typeface="Calibri"/>
              </a:rPr>
              <a:t>Institutional knowledge evaporates after every meeting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443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Decisions get made, context is lost, the same debate happens months later. Companies have no persistent, queryable memory of what they decided or why.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422E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F5F2"/>
                </a:solidFill>
                <a:latin typeface="Calibri"/>
              </a:rPr>
              <a:t>Transcription, attribution, and memory have never been unified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Entity extraction, cross-meeting contradiction detection, and graph-based RAG have existed separately in research — never in a single automatic pipeline, until now.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1C0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486400"/>
            <a:ext cx="64008" cy="82296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7F5F2"/>
                </a:solidFill>
                <a:latin typeface="Calibri"/>
              </a:rPr>
              <a:t>Recognize sidesteps 30 years of hardware-dependent diarisation by watching lips instead of parsing voices — zero enrollment, works on the very first meeting.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422E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5F2"/>
                </a:solidFill>
                <a:latin typeface="Calibri"/>
              </a:rPr>
              <a:t>Zero enrollment. Zero hardware. Works on the first meeting.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54480"/>
            <a:ext cx="2148840" cy="3474720"/>
          </a:xfrm>
          <a:prstGeom prst="rect">
            <a:avLst/>
          </a:prstGeom>
          <a:solidFill>
            <a:srgbClr val="0C1120"/>
          </a:solidFill>
          <a:ln w="635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554480"/>
            <a:ext cx="2148840" cy="54864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256032" cy="256032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422E"/>
                </a:solidFill>
                <a:latin typeface="Calibri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Chrome
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Tab video + audio
over WebSocket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422E"/>
                </a:solidFill>
                <a:latin typeface="Calibr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1554480"/>
            <a:ext cx="2148840" cy="3474720"/>
          </a:xfrm>
          <a:prstGeom prst="rect">
            <a:avLst/>
          </a:prstGeom>
          <a:solidFill>
            <a:srgbClr val="0C1120"/>
          </a:solidFill>
          <a:ln w="635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33472" y="1554480"/>
            <a:ext cx="2148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1755648"/>
            <a:ext cx="25603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1031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242316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MediaPipe
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2004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Lip movement per face
→ active speaker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422E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46904" y="1554480"/>
            <a:ext cx="2148840" cy="3474720"/>
          </a:xfrm>
          <a:prstGeom prst="rect">
            <a:avLst/>
          </a:prstGeom>
          <a:solidFill>
            <a:srgbClr val="0C1120"/>
          </a:solidFill>
          <a:ln w="635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46904" y="1554480"/>
            <a:ext cx="2148840" cy="54864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29784" y="1755648"/>
            <a:ext cx="256032" cy="256032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9784" y="21031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422E"/>
                </a:solidFill>
                <a:latin typeface="Calibri"/>
              </a:rPr>
              <a:t>ASR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42316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Groq
Whisper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2004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Word-level timestamps
6-second windows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422E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0336" y="1554480"/>
            <a:ext cx="2148840" cy="3474720"/>
          </a:xfrm>
          <a:prstGeom prst="rect">
            <a:avLst/>
          </a:prstGeom>
          <a:solidFill>
            <a:srgbClr val="0C1120"/>
          </a:solidFill>
          <a:ln w="635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0336" y="1554480"/>
            <a:ext cx="2148840" cy="54864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1755648"/>
            <a:ext cx="256032" cy="256032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6" y="21031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B6DFF"/>
                </a:solidFill>
                <a:latin typeface="Calibri"/>
              </a:rPr>
              <a:t>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3216" y="242316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Diarizer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32004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Lip timeline ×
word timestamps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01752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8422E"/>
                </a:solidFill>
                <a:latin typeface="Calibri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73768" y="1554480"/>
            <a:ext cx="2148840" cy="3474720"/>
          </a:xfrm>
          <a:prstGeom prst="rect">
            <a:avLst/>
          </a:prstGeom>
          <a:solidFill>
            <a:srgbClr val="0C1120"/>
          </a:solidFill>
          <a:ln w="635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73768" y="1554480"/>
            <a:ext cx="21488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56648" y="1755648"/>
            <a:ext cx="256032" cy="2560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56648" y="2103120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alibri"/>
              </a:rPr>
              <a:t>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242316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Neo4j
Graph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200400"/>
            <a:ext cx="1783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Auto-ingested
on session 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422E"/>
                </a:solidFill>
                <a:latin typeface="Calibri"/>
              </a:rPr>
              <a:t>THE KNOWLEDGE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5F2"/>
                </a:solidFill>
                <a:latin typeface="Calibri"/>
              </a:rPr>
              <a:t>Vector memory that compounds across every meeting.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600200"/>
            <a:ext cx="5394960" cy="2194560"/>
          </a:xfrm>
          <a:prstGeom prst="rect">
            <a:avLst/>
          </a:prstGeom>
          <a:solidFill>
            <a:srgbClr val="060810"/>
          </a:solidFill>
          <a:ln w="6350">
            <a:solidFill>
              <a:srgbClr val="18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4048" y="1600200"/>
            <a:ext cx="45720" cy="219456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647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8422E"/>
                </a:solidFill>
                <a:latin typeface="Calibri"/>
              </a:rPr>
              <a:t>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39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F5F2"/>
                </a:solidFill>
                <a:latin typeface="Calibri"/>
              </a:rPr>
              <a:t>384-dim semantic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78024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278"/>
                </a:solidFill>
                <a:latin typeface="Calibri"/>
              </a:rPr>
              <a:t>Every entity and chunk embedded with all-MiniLM-L6-v2. Cosine vector search finds related concepts even when different words are used across meetings.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600200"/>
            <a:ext cx="5394960" cy="2194560"/>
          </a:xfrm>
          <a:prstGeom prst="rect">
            <a:avLst/>
          </a:prstGeom>
          <a:solidFill>
            <a:srgbClr val="060810"/>
          </a:solidFill>
          <a:ln w="6350">
            <a:solidFill>
              <a:srgbClr val="18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53328" y="1600200"/>
            <a:ext cx="45720" cy="21945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6208" y="176479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DEDUPLICATION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6208" y="20391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F5F2"/>
                </a:solidFill>
                <a:latin typeface="Calibri"/>
              </a:rPr>
              <a:t>Entities merge, never multiply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2478024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278"/>
                </a:solidFill>
                <a:latin typeface="Calibri"/>
              </a:rPr>
              <a:t>New entities with ≥ 0.90 cosine similarity to existing ones are merged. Mention counts accumulate — the more something is discussed, the more central it becomes.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3995928"/>
            <a:ext cx="5394960" cy="2194560"/>
          </a:xfrm>
          <a:prstGeom prst="rect">
            <a:avLst/>
          </a:prstGeom>
          <a:solidFill>
            <a:srgbClr val="060810"/>
          </a:solidFill>
          <a:ln w="6350">
            <a:solidFill>
              <a:srgbClr val="18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995928"/>
            <a:ext cx="45720" cy="2194560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60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6DFF"/>
                </a:solidFill>
                <a:latin typeface="Calibri"/>
              </a:rPr>
              <a:t>GRAPHRAG — LOCAL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F5F2"/>
                </a:solidFill>
                <a:latin typeface="Calibri"/>
              </a:rPr>
              <a:t>Vector search + graph traversal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873752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278"/>
                </a:solidFill>
                <a:latin typeface="Calibri"/>
              </a:rPr>
              <a:t>Query → nearest entity nodes → 1-hop neighbor walk → source chunks → Claude returns a cited answer grounded in your actual meeting history.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328" y="3995928"/>
            <a:ext cx="5394960" cy="2194560"/>
          </a:xfrm>
          <a:prstGeom prst="rect">
            <a:avLst/>
          </a:prstGeom>
          <a:solidFill>
            <a:srgbClr val="060810"/>
          </a:solidFill>
          <a:ln w="6350">
            <a:solidFill>
              <a:srgbClr val="18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53328" y="3995928"/>
            <a:ext cx="45720" cy="2194560"/>
          </a:xfrm>
          <a:prstGeom prst="rect">
            <a:avLst/>
          </a:prstGeom>
          <a:solidFill>
            <a:srgbClr val="C8B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416052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8B840"/>
                </a:solidFill>
                <a:latin typeface="Calibri"/>
              </a:rPr>
              <a:t>GRAPHRAG — 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434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F5F2"/>
                </a:solidFill>
                <a:latin typeface="Calibri"/>
              </a:rPr>
              <a:t>Louvain maps your knowledge terrain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4873752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7278"/>
                </a:solidFill>
                <a:latin typeface="Calibri"/>
              </a:rPr>
              <a:t>Community detection clusters tightly connected entities. Claude summarises each cluster. Holistic questions reason across the entire organisational graph.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422E"/>
                </a:solidFill>
                <a:latin typeface="Calibri"/>
              </a:rPr>
              <a:t>INSTITUTIONAL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7F5F2"/>
                </a:solidFill>
                <a:latin typeface="Calibri"/>
              </a:rPr>
              <a:t>The graph that remembers so your team doesn't have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05840" cy="292608"/>
          </a:xfrm>
          <a:prstGeom prst="rect">
            <a:avLst/>
          </a:prstGeom>
          <a:solidFill>
            <a:srgbClr val="0C1120"/>
          </a:solidFill>
          <a:ln w="7620">
            <a:solidFill>
              <a:srgbClr val="B8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64592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8422E"/>
                </a:solidFill>
                <a:latin typeface="Calibri"/>
              </a:rPr>
              <a:t>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60020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Everything compounds, nothing decays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Every meeting is auto-ingested. Decisions, people, technologies, and relationships accumulate weight across sessions. The graph reflects what your company actually spends its thinking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15768"/>
            <a:ext cx="11247120" cy="9144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005840" cy="292608"/>
          </a:xfrm>
          <a:prstGeom prst="rect">
            <a:avLst/>
          </a:prstGeom>
          <a:solidFill>
            <a:srgbClr val="0C1120"/>
          </a:solidFill>
          <a:ln w="762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92608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FF"/>
                </a:solidFill>
                <a:latin typeface="Calibri"/>
              </a:rPr>
              <a:t>DEBRIEF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88036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Cross-meeting contradiction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2461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After every session, a debrief agent queries the full historical graph, surfaces decisions that contradict past ones, and emails open action items before anyone has to chase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95928"/>
            <a:ext cx="11247120" cy="9144"/>
          </a:xfrm>
          <a:prstGeom prst="rect">
            <a:avLst/>
          </a:prstGeom>
          <a:solidFill>
            <a:srgbClr val="1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005840" cy="292608"/>
          </a:xfrm>
          <a:prstGeom prst="rect">
            <a:avLst/>
          </a:prstGeom>
          <a:solidFill>
            <a:srgbClr val="0C1120"/>
          </a:solidFill>
          <a:ln w="7620">
            <a:solidFill>
              <a:srgbClr val="9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206240"/>
            <a:ext cx="987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B6DFF"/>
                </a:solidFill>
                <a:latin typeface="Calibri"/>
              </a:rPr>
              <a:t>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1605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7F5F2"/>
                </a:solidFill>
                <a:latin typeface="Calibri"/>
              </a:rPr>
              <a:t>Ask anything in plain language, get cited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5262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7278"/>
                </a:solidFill>
                <a:latin typeface="Calibri"/>
              </a:rPr>
              <a:t>Natural-language questions answered from your entire meeting history. Responses cite the exact chunk they came from. A 3D force-directed graph makes the knowledge visually navigable.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8422E"/>
                </a:solidFill>
                <a:latin typeface="Calibri"/>
              </a:rPr>
              <a:t>BUILT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7F5F2"/>
                </a:solidFill>
                <a:latin typeface="Calibri"/>
              </a:rPr>
              <a:t>Zero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7F5F2"/>
                </a:solidFill>
                <a:latin typeface="Calibri"/>
              </a:rPr>
              <a:t>Zero enrollment.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B8422E"/>
                </a:solidFill>
                <a:latin typeface="Calibri"/>
              </a:rPr>
              <a:t>Every meeting.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973836" cy="320040"/>
          </a:xfrm>
          <a:prstGeom prst="rect">
            <a:avLst/>
          </a:prstGeom>
          <a:solidFill>
            <a:srgbClr val="1C0A08"/>
          </a:solidFill>
          <a:ln w="7620">
            <a:solidFill>
              <a:srgbClr val="B8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3328416"/>
            <a:ext cx="8823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422E"/>
                </a:solidFill>
                <a:latin typeface="Calibri"/>
              </a:rPr>
              <a:t>MediaPipe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40764" y="3291840"/>
            <a:ext cx="1207008" cy="320040"/>
          </a:xfrm>
          <a:prstGeom prst="rect">
            <a:avLst/>
          </a:prstGeom>
          <a:solidFill>
            <a:srgbClr val="1C0A08"/>
          </a:solidFill>
          <a:ln w="7620">
            <a:solidFill>
              <a:srgbClr val="B8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3916" y="3328416"/>
            <a:ext cx="1115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422E"/>
                </a:solidFill>
                <a:latin typeface="Calibri"/>
              </a:rPr>
              <a:t>Groq Whisper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57500" y="3291840"/>
            <a:ext cx="822960" cy="320040"/>
          </a:xfrm>
          <a:prstGeom prst="rect">
            <a:avLst/>
          </a:prstGeom>
          <a:solidFill>
            <a:srgbClr val="1C0A08"/>
          </a:solidFill>
          <a:ln w="7620">
            <a:solidFill>
              <a:srgbClr val="B8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0652" y="3328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422E"/>
                </a:solidFill>
                <a:latin typeface="Calibri"/>
              </a:rPr>
              <a:t>Neo4j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0188" y="3291840"/>
            <a:ext cx="822960" cy="320040"/>
          </a:xfrm>
          <a:prstGeom prst="rect">
            <a:avLst/>
          </a:prstGeom>
          <a:solidFill>
            <a:srgbClr val="1C0A08"/>
          </a:solidFill>
          <a:ln w="7620">
            <a:solidFill>
              <a:srgbClr val="B842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3340" y="3328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8422E"/>
                </a:solidFill>
                <a:latin typeface="Calibri"/>
              </a:rPr>
              <a:t>Claude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22876" y="3291840"/>
            <a:ext cx="1051560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6028" y="3328416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Chrome MV3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84164" y="3291840"/>
            <a:ext cx="822960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7316" y="3328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FastAPI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6852" y="3291840"/>
            <a:ext cx="896112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90004" y="3328416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Three.js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22692" y="3291840"/>
            <a:ext cx="822960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95844" y="332841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React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55380" y="3291840"/>
            <a:ext cx="896112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8532" y="3328416"/>
            <a:ext cx="804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GraphRAG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61220" y="3291840"/>
            <a:ext cx="1517904" cy="320040"/>
          </a:xfrm>
          <a:prstGeom prst="rect">
            <a:avLst/>
          </a:prstGeom>
          <a:solidFill>
            <a:srgbClr val="060810"/>
          </a:solidFill>
          <a:ln w="7620">
            <a:solidFill>
              <a:srgbClr val="1A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34372" y="3328416"/>
            <a:ext cx="1426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C7278"/>
                </a:solidFill>
                <a:latin typeface="Calibri"/>
              </a:rPr>
              <a:t>all-MiniLM-L6-v2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45720" cy="685800"/>
          </a:xfrm>
          <a:prstGeom prst="rect">
            <a:avLst/>
          </a:prstGeom>
          <a:solidFill>
            <a:srgbClr val="B842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F5F2"/>
                </a:solidFill>
                <a:latin typeface="Calibri"/>
              </a:rPr>
              <a:t>Your meetings. Your knowledge.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C7278"/>
                </a:solidFill>
                <a:latin typeface="Calibri"/>
              </a:rPr>
              <a:t>Never lost again.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00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C7278"/>
                </a:solidFill>
                <a:latin typeface="Calibri"/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